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image" Target="../media/image-11-2.png"/><Relationship Id="rId7" Type="http://schemas.openxmlformats.org/officeDocument/2006/relationships/image" Target="../media/image-11-2.png"/><Relationship Id="rId8" Type="http://schemas.openxmlformats.org/officeDocument/2006/relationships/image" Target="../media/image-11-2.png"/><Relationship Id="rId9" Type="http://schemas.openxmlformats.org/officeDocument/2006/relationships/image" Target="../media/image-11-2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005840" cy="7315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828800"/>
            <a:ext cx="640080" cy="11887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3017520"/>
            <a:ext cx="1097280" cy="100584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4023360"/>
            <a:ext cx="1645920" cy="10972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914400"/>
            <a:ext cx="640080" cy="11887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2103120"/>
            <a:ext cx="914400" cy="11887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3291840"/>
            <a:ext cx="1097280" cy="128016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4572000"/>
            <a:ext cx="822960" cy="11887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05156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74520" y="178308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4440" y="297180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31720" y="397764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507492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35640" y="86868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75720" y="205740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61320" y="324612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658600" y="452628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835640" y="571500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/ AGENTIC AI TRACK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ThreatMesh AI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822960" y="34290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Trust-Aware Supply Chain CTI Platform via an Adaptive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Trust Graph and Multi-Agent Explainable Reasoning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Kadam   ·   Aarya Nate   ·   Vansh Pandey   ·   Anshul Nagpure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956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Institute of Technology</a:t>
            </a:r>
            <a:endParaRPr lang="en-US" sz="1200" dirty="0"/>
          </a:p>
        </p:txBody>
      </p:sp>
      <p:pic>
        <p:nvPicPr>
          <p:cNvPr id="26" name="Image 0" descr="/home/claude/icons/shield_min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0561320" y="466344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supply chains are attacked faster than they are patched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1B3A63">
                <a:alpha val="15000"/>
              </a:srgbClr>
            </a:outerShdw>
          </a:effectLst>
        </p:spPr>
      </p:sp>
      <p:pic>
        <p:nvPicPr>
          <p:cNvPr id="6" name="Image 0" descr="/home/claude/icons/tren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now involve a third party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4531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60% year-over-year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1B3A63">
                <a:alpha val="15000"/>
              </a:srgbClr>
            </a:outerShdw>
          </a:effectLst>
        </p:spPr>
      </p:sp>
      <p:pic>
        <p:nvPicPr>
          <p:cNvPr id="11" name="Image 1" descr="/home/claude/icons/ale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834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4572000" y="3657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exploitation is the top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initial-access vector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0" y="44531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overtakes stolen credentials for the first time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1B3A63">
                <a:alpha val="15000"/>
              </a:srgbClr>
            </a:outerShdw>
          </a:effectLst>
        </p:spPr>
      </p:sp>
      <p:pic>
        <p:nvPicPr>
          <p:cNvPr id="16" name="Image 2" descr="/home/claude/icons/c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4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34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days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8321040" y="3657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remediate a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component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21040" y="44531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54% ever fully remediated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5212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2025/2026 DBIR (22,000+ incidents)  ·  ENISA Threat Landscape 2025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5715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SBOMs go stale within days. CTI is scattered across NVD, OSV, GHSA. Trust is judged once — never re-evaluated.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RESEARCH 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scores trust once. Nobody re-scores it live.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132A4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532888"/>
            <a:ext cx="1810512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79192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trust/severity scoring —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graph reachability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61488" y="187452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132A4C"/>
          </a:solidFill>
          <a:ln/>
        </p:spPr>
      </p:sp>
      <p:sp>
        <p:nvSpPr>
          <p:cNvPr id="9" name="Text 7"/>
          <p:cNvSpPr/>
          <p:nvPr/>
        </p:nvSpPr>
        <p:spPr>
          <a:xfrm>
            <a:off x="2898648" y="2057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98648" y="2532888"/>
            <a:ext cx="1810512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2679192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 by business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or reachability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74336" y="187452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132A4C"/>
          </a:solidFill>
          <a:ln/>
        </p:spPr>
      </p:sp>
      <p:sp>
        <p:nvSpPr>
          <p:cNvPr id="13" name="Text 11"/>
          <p:cNvSpPr/>
          <p:nvPr/>
        </p:nvSpPr>
        <p:spPr>
          <a:xfrm>
            <a:off x="5111496" y="2057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Duck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11496" y="2532888"/>
            <a:ext cx="1810512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2679192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scans — no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evolving signal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87184" y="187452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132A4C"/>
          </a:solidFill>
          <a:ln/>
        </p:spPr>
      </p:sp>
      <p:sp>
        <p:nvSpPr>
          <p:cNvPr id="17" name="Text 15"/>
          <p:cNvSpPr/>
          <p:nvPr/>
        </p:nvSpPr>
        <p:spPr>
          <a:xfrm>
            <a:off x="7324344" y="2057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24344" y="2532888"/>
            <a:ext cx="1810512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2679192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reasoning is secondary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infra posture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00032" y="187452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132A4C"/>
          </a:solidFill>
          <a:ln/>
        </p:spPr>
      </p:sp>
      <p:sp>
        <p:nvSpPr>
          <p:cNvPr id="21" name="Text 19"/>
          <p:cNvSpPr/>
          <p:nvPr/>
        </p:nvSpPr>
        <p:spPr>
          <a:xfrm>
            <a:off x="9537192" y="2057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 / OpenCTI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537192" y="2532888"/>
            <a:ext cx="1810512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37192" y="2679192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correlation of intel against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dependency graph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0D9A3"/>
          </a:solidFill>
          <a:ln/>
        </p:spPr>
      </p:sp>
      <p:pic>
        <p:nvPicPr>
          <p:cNvPr id="25" name="Image 0" descr="/home/claude/icons/targ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28032"/>
            <a:ext cx="777240" cy="7772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874520" y="4681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ThreatMesh Closes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874520" y="50292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fuses live CVE/exploit data + maintainer behavior + graph reachability into one continuously updated trust score — feeding directly into explainable, agentic remediation.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Adaptive Dependency Trust Graph (ADTG)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continuously recomputed score, driving every downstream recommendation.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3200400"/>
            <a:ext cx="1920240" cy="1920240"/>
          </a:xfrm>
          <a:prstGeom prst="ellipse">
            <a:avLst/>
          </a:prstGeom>
          <a:solidFill>
            <a:srgbClr val="1B3A63"/>
          </a:solidFill>
          <a:ln w="31750">
            <a:solidFill>
              <a:srgbClr val="00D9A3"/>
            </a:solidFill>
            <a:prstDash val="solid"/>
          </a:ln>
        </p:spPr>
      </p:sp>
      <p:pic>
        <p:nvPicPr>
          <p:cNvPr id="6" name="Image 0" descr="/home/claude/icons/shield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0712" y="3593592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34640" y="44165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ADTG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 flipV="1">
            <a:off x="637084" y="3380994"/>
            <a:ext cx="3157676" cy="779526"/>
          </a:xfrm>
          <a:prstGeom prst="line">
            <a:avLst/>
          </a:prstGeom>
          <a:noFill/>
          <a:ln w="15875">
            <a:solidFill>
              <a:srgbClr val="1C7293">
                <a:alpha val="8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94760" y="2601468"/>
            <a:ext cx="9144" cy="1559052"/>
          </a:xfrm>
          <a:prstGeom prst="line">
            <a:avLst/>
          </a:prstGeom>
          <a:noFill/>
          <a:ln w="15875">
            <a:solidFill>
              <a:srgbClr val="1C7293">
                <a:alpha val="8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94760" y="3380994"/>
            <a:ext cx="3157676" cy="779526"/>
          </a:xfrm>
          <a:prstGeom prst="line">
            <a:avLst/>
          </a:prstGeom>
          <a:noFill/>
          <a:ln w="15875">
            <a:solidFill>
              <a:srgbClr val="1C7293">
                <a:alpha val="8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94760" y="4160520"/>
            <a:ext cx="3157676" cy="779526"/>
          </a:xfrm>
          <a:prstGeom prst="line">
            <a:avLst/>
          </a:prstGeom>
          <a:noFill/>
          <a:ln w="15875">
            <a:solidFill>
              <a:srgbClr val="1C7293">
                <a:alpha val="8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94760" y="4160520"/>
            <a:ext cx="9144" cy="1559052"/>
          </a:xfrm>
          <a:prstGeom prst="line">
            <a:avLst/>
          </a:prstGeom>
          <a:noFill/>
          <a:ln w="15875">
            <a:solidFill>
              <a:srgbClr val="1C7293">
                <a:alpha val="8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7084" y="4160520"/>
            <a:ext cx="3157676" cy="779526"/>
          </a:xfrm>
          <a:prstGeom prst="line">
            <a:avLst/>
          </a:prstGeom>
          <a:noFill/>
          <a:ln w="15875">
            <a:solidFill>
              <a:srgbClr val="1C7293">
                <a:alpha val="8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-345896" y="2992374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-254456" y="2992374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frequency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severity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811780" y="2212848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03220" y="221284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69456" y="2992374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60896" y="2992374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69456" y="4551426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60896" y="4551426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cadence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 health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811780" y="5330952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03220" y="53309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&amp;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footprint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-345896" y="4551426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-254456" y="4551426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32520" y="3246120"/>
            <a:ext cx="2880360" cy="1828800"/>
          </a:xfrm>
          <a:prstGeom prst="roundRect">
            <a:avLst>
              <a:gd name="adj" fmla="val 5000"/>
            </a:avLst>
          </a:prstGeom>
          <a:solidFill>
            <a:srgbClr val="00D9A3"/>
          </a:solidFill>
          <a:ln/>
        </p:spPr>
      </p:sp>
      <p:sp>
        <p:nvSpPr>
          <p:cNvPr id="27" name="Text 24"/>
          <p:cNvSpPr/>
          <p:nvPr/>
        </p:nvSpPr>
        <p:spPr>
          <a:xfrm>
            <a:off x="8961120" y="342900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 arrives → score updates automatically → every downstream recommendation updates with it.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independently demoable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755648" cy="3246120"/>
          </a:xfrm>
          <a:prstGeom prst="roundRect">
            <a:avLst>
              <a:gd name="adj" fmla="val 5208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2350008"/>
            <a:ext cx="512064" cy="51206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2350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/home/claude/icons/database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06324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661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SBOMs, CVE feeds,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metadata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5029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86000" y="3698748"/>
            <a:ext cx="17373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2423160" y="2148840"/>
            <a:ext cx="1755648" cy="3246120"/>
          </a:xfrm>
          <a:prstGeom prst="roundRect">
            <a:avLst>
              <a:gd name="adj" fmla="val 5208"/>
            </a:avLst>
          </a:prstGeom>
          <a:solidFill>
            <a:srgbClr val="1B3A63"/>
          </a:solidFill>
          <a:ln/>
        </p:spPr>
      </p:sp>
      <p:sp>
        <p:nvSpPr>
          <p:cNvPr id="13" name="Shape 10"/>
          <p:cNvSpPr/>
          <p:nvPr/>
        </p:nvSpPr>
        <p:spPr>
          <a:xfrm>
            <a:off x="3044952" y="2350008"/>
            <a:ext cx="512064" cy="51206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4" name="Text 11"/>
          <p:cNvSpPr/>
          <p:nvPr/>
        </p:nvSpPr>
        <p:spPr>
          <a:xfrm>
            <a:off x="3044952" y="2350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1" descr="/home/claude/icons/filetext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3063240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14600" y="35661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514600" y="41148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STIX 2.1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514600" y="5029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python-stix2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160520" y="3698748"/>
            <a:ext cx="17373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0" name="Shape 16"/>
          <p:cNvSpPr/>
          <p:nvPr/>
        </p:nvSpPr>
        <p:spPr>
          <a:xfrm>
            <a:off x="4297680" y="2148840"/>
            <a:ext cx="1755648" cy="3246120"/>
          </a:xfrm>
          <a:prstGeom prst="roundRect">
            <a:avLst>
              <a:gd name="adj" fmla="val 5208"/>
            </a:avLst>
          </a:prstGeom>
          <a:solidFill>
            <a:srgbClr val="132A4C"/>
          </a:solidFill>
          <a:ln/>
        </p:spPr>
      </p:sp>
      <p:sp>
        <p:nvSpPr>
          <p:cNvPr id="21" name="Shape 17"/>
          <p:cNvSpPr/>
          <p:nvPr/>
        </p:nvSpPr>
        <p:spPr>
          <a:xfrm>
            <a:off x="4919472" y="2350008"/>
            <a:ext cx="512064" cy="51206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2" name="Text 18"/>
          <p:cNvSpPr/>
          <p:nvPr/>
        </p:nvSpPr>
        <p:spPr>
          <a:xfrm>
            <a:off x="4919472" y="2350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2" descr="/home/claude/icons/gitbranch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3063240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0" y="35661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Graph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389120" y="41148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Packages, vulns,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as nodes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389120" y="5029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/ Cypher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035040" y="3698748"/>
            <a:ext cx="17373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8" name="Shape 23"/>
          <p:cNvSpPr/>
          <p:nvPr/>
        </p:nvSpPr>
        <p:spPr>
          <a:xfrm>
            <a:off x="6172200" y="2148840"/>
            <a:ext cx="1755648" cy="3246120"/>
          </a:xfrm>
          <a:prstGeom prst="roundRect">
            <a:avLst>
              <a:gd name="adj" fmla="val 5208"/>
            </a:avLst>
          </a:prstGeom>
          <a:solidFill>
            <a:srgbClr val="1B3A63"/>
          </a:solidFill>
          <a:ln/>
        </p:spPr>
      </p:sp>
      <p:sp>
        <p:nvSpPr>
          <p:cNvPr id="29" name="Shape 24"/>
          <p:cNvSpPr/>
          <p:nvPr/>
        </p:nvSpPr>
        <p:spPr>
          <a:xfrm>
            <a:off x="6793992" y="2350008"/>
            <a:ext cx="512064" cy="51206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0" name="Text 25"/>
          <p:cNvSpPr/>
          <p:nvPr/>
        </p:nvSpPr>
        <p:spPr>
          <a:xfrm>
            <a:off x="6793992" y="2350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pic>
        <p:nvPicPr>
          <p:cNvPr id="31" name="Image 3" descr="/home/claude/icons/activity_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3063240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63640" y="35661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ADTG Scoring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6263640" y="41148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trust score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package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263640" y="5029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engine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909560" y="3698748"/>
            <a:ext cx="17373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6" name="Shape 30"/>
          <p:cNvSpPr/>
          <p:nvPr/>
        </p:nvSpPr>
        <p:spPr>
          <a:xfrm>
            <a:off x="8046720" y="2148840"/>
            <a:ext cx="1755648" cy="3246120"/>
          </a:xfrm>
          <a:prstGeom prst="roundRect">
            <a:avLst>
              <a:gd name="adj" fmla="val 5208"/>
            </a:avLst>
          </a:prstGeom>
          <a:solidFill>
            <a:srgbClr val="132A4C"/>
          </a:solidFill>
          <a:ln/>
        </p:spPr>
      </p:sp>
      <p:sp>
        <p:nvSpPr>
          <p:cNvPr id="37" name="Shape 31"/>
          <p:cNvSpPr/>
          <p:nvPr/>
        </p:nvSpPr>
        <p:spPr>
          <a:xfrm>
            <a:off x="8668512" y="2350008"/>
            <a:ext cx="512064" cy="51206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8" name="Text 32"/>
          <p:cNvSpPr/>
          <p:nvPr/>
        </p:nvSpPr>
        <p:spPr>
          <a:xfrm>
            <a:off x="8668512" y="2350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pic>
        <p:nvPicPr>
          <p:cNvPr id="39" name="Image 4" descr="/home/claude/icons/cpu_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3063240"/>
            <a:ext cx="402336" cy="40233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138160" y="35661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Reasoning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8138160" y="41148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debate,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consensus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8138160" y="5029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pipeline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9784080" y="3698748"/>
            <a:ext cx="17373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44" name="Shape 37"/>
          <p:cNvSpPr/>
          <p:nvPr/>
        </p:nvSpPr>
        <p:spPr>
          <a:xfrm>
            <a:off x="9921240" y="2148840"/>
            <a:ext cx="1755648" cy="3246120"/>
          </a:xfrm>
          <a:prstGeom prst="roundRect">
            <a:avLst>
              <a:gd name="adj" fmla="val 5208"/>
            </a:avLst>
          </a:prstGeom>
          <a:solidFill>
            <a:srgbClr val="1B3A63"/>
          </a:solidFill>
          <a:ln/>
        </p:spPr>
      </p:sp>
      <p:sp>
        <p:nvSpPr>
          <p:cNvPr id="45" name="Shape 38"/>
          <p:cNvSpPr/>
          <p:nvPr/>
        </p:nvSpPr>
        <p:spPr>
          <a:xfrm>
            <a:off x="10543032" y="2350008"/>
            <a:ext cx="512064" cy="51206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46" name="Text 39"/>
          <p:cNvSpPr/>
          <p:nvPr/>
        </p:nvSpPr>
        <p:spPr>
          <a:xfrm>
            <a:off x="10543032" y="2350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pic>
        <p:nvPicPr>
          <p:cNvPr id="47" name="Image 5" descr="/home/claude/icons/check_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7896" y="3063240"/>
            <a:ext cx="402336" cy="40233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0012680" y="35661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10012680" y="41148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remediation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+ dashboard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10012680" y="5029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REASONING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council of five agents debates — not a black box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32A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235915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164" y="250545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Agent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730752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and characterizes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threat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97480" y="210312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32A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4700" y="235915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004" y="250545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3246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807208" y="3730752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business impact via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reachability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46320" y="210312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32A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63540" y="235915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844" y="25054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37760" y="3246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Agent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956048" y="3730752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and updates the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ADTG score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995160" y="210312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32A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12380" y="235915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packa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684" y="2505456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246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Agent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04888" y="3730752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compatible,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upgrade path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144000" y="210312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32A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761220" y="235915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7524" y="2505456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35440" y="3246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253728" y="3730752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finding to relevant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standards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0D9A3"/>
          </a:solidFill>
          <a:ln/>
        </p:spPr>
      </p:sp>
      <p:sp>
        <p:nvSpPr>
          <p:cNvPr id="30" name="Text 23"/>
          <p:cNvSpPr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assessments reconciled into ONE consensus recommendation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 — 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stale package to a cited playbook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749040" cy="3977640"/>
          </a:xfrm>
          <a:prstGeom prst="roundRect">
            <a:avLst>
              <a:gd name="adj" fmla="val 2927"/>
            </a:avLst>
          </a:prstGeom>
          <a:solidFill>
            <a:srgbClr val="132A4C"/>
          </a:solidFill>
          <a:ln w="19050">
            <a:solidFill>
              <a:srgbClr val="E63946"/>
            </a:solidFill>
            <a:prstDash val="solid"/>
          </a:ln>
        </p:spPr>
      </p:sp>
      <p:pic>
        <p:nvPicPr>
          <p:cNvPr id="5" name="Image 0" descr="/home/claude/icons/alert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2677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xyz-lib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08760" y="26700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CVE-2026-XXXX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8680" y="3246120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1272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from the payment API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749040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630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exploit available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251960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133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 inactive 90+ days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4892040"/>
            <a:ext cx="3200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ADTG TRUST SCORE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" y="52578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1783080" y="5532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434840" y="3703320"/>
            <a:ext cx="594360" cy="411480"/>
          </a:xfrm>
          <a:prstGeom prst="rightArrow">
            <a:avLst/>
          </a:prstGeom>
          <a:solidFill>
            <a:srgbClr val="00D9A3"/>
          </a:solidFill>
          <a:ln/>
        </p:spPr>
      </p:sp>
      <p:sp>
        <p:nvSpPr>
          <p:cNvPr id="19" name="Shape 16"/>
          <p:cNvSpPr/>
          <p:nvPr/>
        </p:nvSpPr>
        <p:spPr>
          <a:xfrm>
            <a:off x="5212080" y="1965960"/>
            <a:ext cx="6355080" cy="3977640"/>
          </a:xfrm>
          <a:prstGeom prst="roundRect">
            <a:avLst>
              <a:gd name="adj" fmla="val 2759"/>
            </a:avLst>
          </a:prstGeom>
          <a:solidFill>
            <a:srgbClr val="00D9A3"/>
          </a:solidFill>
          <a:ln/>
        </p:spPr>
      </p:sp>
      <p:pic>
        <p:nvPicPr>
          <p:cNvPr id="20" name="Image 1" descr="/home/claude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4028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80760" y="2286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486400" y="28803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 to v4.3.1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5486400" y="342900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critical CVE and is confirmed compatible with the existing dependency tree.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0" y="4160520"/>
            <a:ext cx="5486400" cy="0"/>
          </a:xfrm>
          <a:prstGeom prst="line">
            <a:avLst/>
          </a:prstGeom>
          <a:noFill/>
          <a:ln w="9525">
            <a:solidFill>
              <a:srgbClr val="0B1F3A">
                <a:alpha val="5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0" y="4343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TRACES TO A SPECIFIC GRAPH NODE OR FEED SOURCE — AUDITABLE, NOT A GUESS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486400" y="498348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27" name="Text 23"/>
          <p:cNvSpPr/>
          <p:nvPr/>
        </p:nvSpPr>
        <p:spPr>
          <a:xfrm>
            <a:off x="5486400" y="4983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620256" y="498348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29" name="Text 25"/>
          <p:cNvSpPr/>
          <p:nvPr/>
        </p:nvSpPr>
        <p:spPr>
          <a:xfrm>
            <a:off x="6620256" y="4983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754112" y="498348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31" name="Text 27"/>
          <p:cNvSpPr/>
          <p:nvPr/>
        </p:nvSpPr>
        <p:spPr>
          <a:xfrm>
            <a:off x="7754112" y="4983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887968" y="498348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33" name="Text 29"/>
          <p:cNvSpPr/>
          <p:nvPr/>
        </p:nvSpPr>
        <p:spPr>
          <a:xfrm>
            <a:off x="8887968" y="4983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10021824" y="498348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35" name="Text 31"/>
          <p:cNvSpPr/>
          <p:nvPr/>
        </p:nvSpPr>
        <p:spPr>
          <a:xfrm>
            <a:off x="10021824" y="4983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INTERFACE —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looks like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 — build target for the hackathon MVP, not a live screenshot.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4572000"/>
          </a:xfrm>
          <a:prstGeom prst="roundRect">
            <a:avLst>
              <a:gd name="adj" fmla="val 2000"/>
            </a:avLst>
          </a:prstGeom>
          <a:solidFill>
            <a:srgbClr val="0E183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11064240" cy="365760"/>
          </a:xfrm>
          <a:prstGeom prst="roundRect">
            <a:avLst>
              <a:gd name="adj" fmla="val 25000"/>
            </a:avLst>
          </a:prstGeom>
          <a:solidFill>
            <a:srgbClr val="16233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8288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002536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00253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002536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1947672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19431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app.threatmesh.ai/dashboard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1554480" cy="4206240"/>
          </a:xfrm>
          <a:prstGeom prst="rect">
            <a:avLst/>
          </a:prstGeom>
          <a:solidFill>
            <a:srgbClr val="0B1730"/>
          </a:solidFill>
          <a:ln/>
        </p:spPr>
      </p:sp>
      <p:pic>
        <p:nvPicPr>
          <p:cNvPr id="14" name="Image 0" descr="/home/claude/icons/shield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40487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238658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ThreatMesh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2752344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pic>
        <p:nvPicPr>
          <p:cNvPr id="17" name="Image 1" descr="/home/claude/icons/activity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0720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24128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19" name="Image 2" descr="/home/claude/icons/gitbranch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7832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24128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Explorer</a:t>
            </a:r>
            <a:endParaRPr lang="en-US" sz="900" dirty="0"/>
          </a:p>
        </p:txBody>
      </p:sp>
      <p:pic>
        <p:nvPicPr>
          <p:cNvPr id="21" name="Image 3" descr="/home/claude/icons/layers_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4845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36210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</a:t>
            </a:r>
            <a:endParaRPr lang="en-US" sz="900" dirty="0"/>
          </a:p>
        </p:txBody>
      </p:sp>
      <p:pic>
        <p:nvPicPr>
          <p:cNvPr id="23" name="Image 4" descr="/home/claude/icons/alert_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6908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24128" y="4041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  <p:pic>
        <p:nvPicPr>
          <p:cNvPr id="25" name="Image 5" descr="/home/claude/icons/filetext_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89704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24128" y="4462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2267712" y="2404872"/>
            <a:ext cx="2089404" cy="777240"/>
          </a:xfrm>
          <a:prstGeom prst="roundRect">
            <a:avLst>
              <a:gd name="adj" fmla="val 8235"/>
            </a:avLst>
          </a:prstGeom>
          <a:solidFill>
            <a:srgbClr val="132A4C"/>
          </a:solidFill>
          <a:ln/>
        </p:spPr>
      </p:sp>
      <p:sp>
        <p:nvSpPr>
          <p:cNvPr id="28" name="Text 20"/>
          <p:cNvSpPr/>
          <p:nvPr/>
        </p:nvSpPr>
        <p:spPr>
          <a:xfrm>
            <a:off x="2395728" y="2478024"/>
            <a:ext cx="18333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1,842</a:t>
            </a:r>
            <a:endParaRPr lang="en-US" sz="1900" dirty="0"/>
          </a:p>
        </p:txBody>
      </p:sp>
      <p:sp>
        <p:nvSpPr>
          <p:cNvPr id="29" name="Text 21"/>
          <p:cNvSpPr/>
          <p:nvPr/>
        </p:nvSpPr>
        <p:spPr>
          <a:xfrm>
            <a:off x="2395728" y="2834640"/>
            <a:ext cx="18333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Monitored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4631436" y="2404872"/>
            <a:ext cx="2089404" cy="777240"/>
          </a:xfrm>
          <a:prstGeom prst="roundRect">
            <a:avLst>
              <a:gd name="adj" fmla="val 8235"/>
            </a:avLst>
          </a:prstGeom>
          <a:solidFill>
            <a:srgbClr val="132A4C"/>
          </a:solidFill>
          <a:ln/>
        </p:spPr>
      </p:sp>
      <p:sp>
        <p:nvSpPr>
          <p:cNvPr id="31" name="Text 23"/>
          <p:cNvSpPr/>
          <p:nvPr/>
        </p:nvSpPr>
        <p:spPr>
          <a:xfrm>
            <a:off x="4759452" y="2478024"/>
            <a:ext cx="18333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900" dirty="0"/>
          </a:p>
        </p:txBody>
      </p:sp>
      <p:sp>
        <p:nvSpPr>
          <p:cNvPr id="32" name="Text 24"/>
          <p:cNvSpPr/>
          <p:nvPr/>
        </p:nvSpPr>
        <p:spPr>
          <a:xfrm>
            <a:off x="4759452" y="2834640"/>
            <a:ext cx="18333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Trust Score</a:t>
            </a:r>
            <a:endParaRPr lang="en-US" sz="800" dirty="0"/>
          </a:p>
        </p:txBody>
      </p:sp>
      <p:sp>
        <p:nvSpPr>
          <p:cNvPr id="33" name="Shape 25"/>
          <p:cNvSpPr/>
          <p:nvPr/>
        </p:nvSpPr>
        <p:spPr>
          <a:xfrm>
            <a:off x="6995160" y="2404872"/>
            <a:ext cx="2089404" cy="777240"/>
          </a:xfrm>
          <a:prstGeom prst="roundRect">
            <a:avLst>
              <a:gd name="adj" fmla="val 8235"/>
            </a:avLst>
          </a:prstGeom>
          <a:solidFill>
            <a:srgbClr val="132A4C"/>
          </a:solidFill>
          <a:ln/>
        </p:spPr>
      </p:sp>
      <p:sp>
        <p:nvSpPr>
          <p:cNvPr id="34" name="Text 26"/>
          <p:cNvSpPr/>
          <p:nvPr/>
        </p:nvSpPr>
        <p:spPr>
          <a:xfrm>
            <a:off x="7123176" y="2478024"/>
            <a:ext cx="18333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35" name="Text 27"/>
          <p:cNvSpPr/>
          <p:nvPr/>
        </p:nvSpPr>
        <p:spPr>
          <a:xfrm>
            <a:off x="7123176" y="2834640"/>
            <a:ext cx="18333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9358884" y="2404872"/>
            <a:ext cx="2089404" cy="777240"/>
          </a:xfrm>
          <a:prstGeom prst="roundRect">
            <a:avLst>
              <a:gd name="adj" fmla="val 8235"/>
            </a:avLst>
          </a:prstGeom>
          <a:solidFill>
            <a:srgbClr val="132A4C"/>
          </a:solidFill>
          <a:ln/>
        </p:spPr>
      </p:sp>
      <p:sp>
        <p:nvSpPr>
          <p:cNvPr id="37" name="Text 29"/>
          <p:cNvSpPr/>
          <p:nvPr/>
        </p:nvSpPr>
        <p:spPr>
          <a:xfrm>
            <a:off x="9486900" y="2478024"/>
            <a:ext cx="18333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900" dirty="0"/>
          </a:p>
        </p:txBody>
      </p:sp>
      <p:sp>
        <p:nvSpPr>
          <p:cNvPr id="38" name="Text 30"/>
          <p:cNvSpPr/>
          <p:nvPr/>
        </p:nvSpPr>
        <p:spPr>
          <a:xfrm>
            <a:off x="9486900" y="2834640"/>
            <a:ext cx="18333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CVEs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2267712" y="3319272"/>
            <a:ext cx="5691957" cy="2962656"/>
          </a:xfrm>
          <a:prstGeom prst="roundRect">
            <a:avLst>
              <a:gd name="adj" fmla="val 2469"/>
            </a:avLst>
          </a:prstGeom>
          <a:solidFill>
            <a:srgbClr val="132A4C"/>
          </a:solidFill>
          <a:ln/>
        </p:spPr>
      </p:sp>
      <p:sp>
        <p:nvSpPr>
          <p:cNvPr id="40" name="Text 32"/>
          <p:cNvSpPr/>
          <p:nvPr/>
        </p:nvSpPr>
        <p:spPr>
          <a:xfrm>
            <a:off x="2432304" y="3429000"/>
            <a:ext cx="53627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Trust Graph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4107851" y="4434840"/>
            <a:ext cx="1005840" cy="502920"/>
          </a:xfrm>
          <a:prstGeom prst="line">
            <a:avLst/>
          </a:prstGeom>
          <a:noFill/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3924971" y="4937760"/>
            <a:ext cx="1188720" cy="457200"/>
          </a:xfrm>
          <a:prstGeom prst="line">
            <a:avLst/>
          </a:prstGeom>
          <a:noFill/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4930811" y="4937760"/>
            <a:ext cx="182880" cy="914400"/>
          </a:xfrm>
          <a:prstGeom prst="line">
            <a:avLst/>
          </a:prstGeom>
          <a:noFill/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5113691" y="4389120"/>
            <a:ext cx="1005840" cy="548640"/>
          </a:xfrm>
          <a:prstGeom prst="line">
            <a:avLst/>
          </a:prstGeom>
          <a:noFill/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 flipV="1">
            <a:off x="5113691" y="4937760"/>
            <a:ext cx="1188720" cy="320040"/>
          </a:xfrm>
          <a:prstGeom prst="line">
            <a:avLst/>
          </a:prstGeom>
          <a:noFill/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 flipV="1">
            <a:off x="5113691" y="4937760"/>
            <a:ext cx="457200" cy="960120"/>
          </a:xfrm>
          <a:prstGeom prst="line">
            <a:avLst/>
          </a:prstGeom>
          <a:noFill/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3284891" y="4434840"/>
            <a:ext cx="822960" cy="411480"/>
          </a:xfrm>
          <a:prstGeom prst="line">
            <a:avLst/>
          </a:prstGeom>
          <a:noFill/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 flipV="1">
            <a:off x="6119531" y="4389120"/>
            <a:ext cx="914400" cy="365760"/>
          </a:xfrm>
          <a:prstGeom prst="line">
            <a:avLst/>
          </a:prstGeom>
          <a:noFill/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 flipV="1">
            <a:off x="3924971" y="5394960"/>
            <a:ext cx="1005840" cy="457200"/>
          </a:xfrm>
          <a:prstGeom prst="line">
            <a:avLst/>
          </a:prstGeom>
          <a:noFill/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4967387" y="4791456"/>
            <a:ext cx="292608" cy="292608"/>
          </a:xfrm>
          <a:prstGeom prst="ellipse">
            <a:avLst/>
          </a:prstGeom>
          <a:solidFill>
            <a:srgbClr val="00D9A3"/>
          </a:solidFill>
          <a:ln w="19050">
            <a:solidFill>
              <a:srgbClr val="0E183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4016411" y="4343400"/>
            <a:ext cx="182880" cy="182880"/>
          </a:xfrm>
          <a:prstGeom prst="ellipse">
            <a:avLst/>
          </a:prstGeom>
          <a:solidFill>
            <a:srgbClr val="00D9A3"/>
          </a:solidFill>
          <a:ln w="19050">
            <a:solidFill>
              <a:srgbClr val="0E1830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3833531" y="5303520"/>
            <a:ext cx="182880" cy="182880"/>
          </a:xfrm>
          <a:prstGeom prst="ellipse">
            <a:avLst/>
          </a:prstGeom>
          <a:solidFill>
            <a:srgbClr val="F4A300"/>
          </a:solidFill>
          <a:ln w="19050">
            <a:solidFill>
              <a:srgbClr val="0E1830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4848515" y="5769864"/>
            <a:ext cx="164592" cy="164592"/>
          </a:xfrm>
          <a:prstGeom prst="ellipse">
            <a:avLst/>
          </a:prstGeom>
          <a:solidFill>
            <a:srgbClr val="00D9A3"/>
          </a:solidFill>
          <a:ln w="19050">
            <a:solidFill>
              <a:srgbClr val="0E1830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6028091" y="4297680"/>
            <a:ext cx="182880" cy="182880"/>
          </a:xfrm>
          <a:prstGeom prst="ellipse">
            <a:avLst/>
          </a:prstGeom>
          <a:solidFill>
            <a:srgbClr val="E63946"/>
          </a:solidFill>
          <a:ln w="19050">
            <a:solidFill>
              <a:srgbClr val="0E1830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6220115" y="5175504"/>
            <a:ext cx="164592" cy="16459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0E1830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5488595" y="5815584"/>
            <a:ext cx="164592" cy="164592"/>
          </a:xfrm>
          <a:prstGeom prst="ellipse">
            <a:avLst/>
          </a:prstGeom>
          <a:solidFill>
            <a:srgbClr val="00D9A3"/>
          </a:solidFill>
          <a:ln w="19050">
            <a:solidFill>
              <a:srgbClr val="0E1830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3211739" y="4773168"/>
            <a:ext cx="146304" cy="146304"/>
          </a:xfrm>
          <a:prstGeom prst="ellipse">
            <a:avLst/>
          </a:prstGeom>
          <a:solidFill>
            <a:srgbClr val="00D9A3"/>
          </a:solidFill>
          <a:ln w="19050">
            <a:solidFill>
              <a:srgbClr val="0E1830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6960779" y="4681728"/>
            <a:ext cx="146304" cy="146304"/>
          </a:xfrm>
          <a:prstGeom prst="ellipse">
            <a:avLst/>
          </a:prstGeom>
          <a:solidFill>
            <a:srgbClr val="E63946"/>
          </a:solidFill>
          <a:ln w="19050">
            <a:solidFill>
              <a:srgbClr val="0E1830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2432304" y="6025896"/>
            <a:ext cx="100584" cy="10058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60" name="Text 52"/>
          <p:cNvSpPr/>
          <p:nvPr/>
        </p:nvSpPr>
        <p:spPr>
          <a:xfrm>
            <a:off x="2596896" y="59710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800" dirty="0"/>
          </a:p>
        </p:txBody>
      </p:sp>
      <p:sp>
        <p:nvSpPr>
          <p:cNvPr id="61" name="Shape 53"/>
          <p:cNvSpPr/>
          <p:nvPr/>
        </p:nvSpPr>
        <p:spPr>
          <a:xfrm>
            <a:off x="3483864" y="6025896"/>
            <a:ext cx="100584" cy="10058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2" name="Text 54"/>
          <p:cNvSpPr/>
          <p:nvPr/>
        </p:nvSpPr>
        <p:spPr>
          <a:xfrm>
            <a:off x="3648456" y="59710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4535424" y="6025896"/>
            <a:ext cx="100584" cy="10058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4" name="Text 56"/>
          <p:cNvSpPr/>
          <p:nvPr/>
        </p:nvSpPr>
        <p:spPr>
          <a:xfrm>
            <a:off x="4700016" y="59710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800" dirty="0"/>
          </a:p>
        </p:txBody>
      </p:sp>
      <p:sp>
        <p:nvSpPr>
          <p:cNvPr id="65" name="Shape 57"/>
          <p:cNvSpPr/>
          <p:nvPr/>
        </p:nvSpPr>
        <p:spPr>
          <a:xfrm>
            <a:off x="8124261" y="3319272"/>
            <a:ext cx="3324027" cy="1659087"/>
          </a:xfrm>
          <a:prstGeom prst="roundRect">
            <a:avLst>
              <a:gd name="adj" fmla="val 4409"/>
            </a:avLst>
          </a:prstGeom>
          <a:solidFill>
            <a:srgbClr val="132A4C"/>
          </a:solidFill>
          <a:ln/>
        </p:spPr>
      </p:sp>
      <p:sp>
        <p:nvSpPr>
          <p:cNvPr id="66" name="Text 58"/>
          <p:cNvSpPr/>
          <p:nvPr/>
        </p:nvSpPr>
        <p:spPr>
          <a:xfrm>
            <a:off x="8270565" y="3429000"/>
            <a:ext cx="304970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</a:t>
            </a:r>
            <a:endParaRPr lang="en-US" sz="1050" dirty="0"/>
          </a:p>
        </p:txBody>
      </p:sp>
      <p:sp>
        <p:nvSpPr>
          <p:cNvPr id="67" name="Shape 59"/>
          <p:cNvSpPr/>
          <p:nvPr/>
        </p:nvSpPr>
        <p:spPr>
          <a:xfrm>
            <a:off x="8270565" y="3776472"/>
            <a:ext cx="73152" cy="7315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8" name="Text 60"/>
          <p:cNvSpPr/>
          <p:nvPr/>
        </p:nvSpPr>
        <p:spPr>
          <a:xfrm>
            <a:off x="8416869" y="3694176"/>
            <a:ext cx="28668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xyz-lib flagged — exploit seen</a:t>
            </a:r>
            <a:endParaRPr lang="en-US" sz="750" dirty="0"/>
          </a:p>
        </p:txBody>
      </p:sp>
      <p:sp>
        <p:nvSpPr>
          <p:cNvPr id="69" name="Shape 61"/>
          <p:cNvSpPr/>
          <p:nvPr/>
        </p:nvSpPr>
        <p:spPr>
          <a:xfrm>
            <a:off x="8270565" y="4087368"/>
            <a:ext cx="73152" cy="73152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0" name="Text 62"/>
          <p:cNvSpPr/>
          <p:nvPr/>
        </p:nvSpPr>
        <p:spPr>
          <a:xfrm>
            <a:off x="8416869" y="4005072"/>
            <a:ext cx="28668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log-utils maintainer inactive</a:t>
            </a:r>
            <a:endParaRPr lang="en-US" sz="750" dirty="0"/>
          </a:p>
        </p:txBody>
      </p:sp>
      <p:sp>
        <p:nvSpPr>
          <p:cNvPr id="71" name="Shape 63"/>
          <p:cNvSpPr/>
          <p:nvPr/>
        </p:nvSpPr>
        <p:spPr>
          <a:xfrm>
            <a:off x="8270565" y="4398264"/>
            <a:ext cx="73152" cy="73152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72" name="Text 64"/>
          <p:cNvSpPr/>
          <p:nvPr/>
        </p:nvSpPr>
        <p:spPr>
          <a:xfrm>
            <a:off x="8416869" y="4315968"/>
            <a:ext cx="28668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auth-core patched to v2.1</a:t>
            </a:r>
            <a:endParaRPr lang="en-US" sz="750" dirty="0"/>
          </a:p>
        </p:txBody>
      </p:sp>
      <p:sp>
        <p:nvSpPr>
          <p:cNvPr id="73" name="Shape 65"/>
          <p:cNvSpPr/>
          <p:nvPr/>
        </p:nvSpPr>
        <p:spPr>
          <a:xfrm>
            <a:off x="8270565" y="4709160"/>
            <a:ext cx="73152" cy="73152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4" name="Text 66"/>
          <p:cNvSpPr/>
          <p:nvPr/>
        </p:nvSpPr>
        <p:spPr>
          <a:xfrm>
            <a:off x="8416869" y="4626864"/>
            <a:ext cx="28668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img-parse reachability changed</a:t>
            </a:r>
            <a:endParaRPr lang="en-US" sz="750" dirty="0"/>
          </a:p>
        </p:txBody>
      </p:sp>
      <p:sp>
        <p:nvSpPr>
          <p:cNvPr id="75" name="Shape 67"/>
          <p:cNvSpPr/>
          <p:nvPr/>
        </p:nvSpPr>
        <p:spPr>
          <a:xfrm>
            <a:off x="8124261" y="5106375"/>
            <a:ext cx="3324027" cy="1175553"/>
          </a:xfrm>
          <a:prstGeom prst="roundRect">
            <a:avLst>
              <a:gd name="adj" fmla="val 6223"/>
            </a:avLst>
          </a:prstGeom>
          <a:solidFill>
            <a:srgbClr val="00D9A3"/>
          </a:solidFill>
          <a:ln/>
        </p:spPr>
      </p:sp>
      <p:sp>
        <p:nvSpPr>
          <p:cNvPr id="76" name="Text 68"/>
          <p:cNvSpPr/>
          <p:nvPr/>
        </p:nvSpPr>
        <p:spPr>
          <a:xfrm>
            <a:off x="8270565" y="5216103"/>
            <a:ext cx="30497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Playbook</a:t>
            </a:r>
            <a:endParaRPr lang="en-US" sz="950" dirty="0"/>
          </a:p>
        </p:txBody>
      </p:sp>
      <p:sp>
        <p:nvSpPr>
          <p:cNvPr id="77" name="Text 69"/>
          <p:cNvSpPr/>
          <p:nvPr/>
        </p:nvSpPr>
        <p:spPr>
          <a:xfrm>
            <a:off x="8270565" y="5472135"/>
            <a:ext cx="30497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xyz-lib → v4.3.1</a:t>
            </a:r>
            <a:endParaRPr lang="en-US" sz="1050" dirty="0"/>
          </a:p>
        </p:txBody>
      </p:sp>
      <p:sp>
        <p:nvSpPr>
          <p:cNvPr id="78" name="Text 70"/>
          <p:cNvSpPr/>
          <p:nvPr/>
        </p:nvSpPr>
        <p:spPr>
          <a:xfrm>
            <a:off x="8270565" y="5764743"/>
            <a:ext cx="304970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· Compatible · Auto-verified</a:t>
            </a:r>
            <a:endParaRPr lang="en-US" sz="800" dirty="0"/>
          </a:p>
        </p:txBody>
      </p:sp>
      <p:sp>
        <p:nvSpPr>
          <p:cNvPr id="79" name="Text 7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commit to a cited remediation, in one pass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27632" cy="1613002"/>
          </a:xfrm>
          <a:prstGeom prst="roundRect">
            <a:avLst>
              <a:gd name="adj" fmla="val 4535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505456"/>
            <a:ext cx="1408176" cy="146304"/>
          </a:xfrm>
          <a:prstGeom prst="roundRect">
            <a:avLst>
              <a:gd name="adj" fmla="val 18750"/>
            </a:avLst>
          </a:prstGeom>
          <a:solidFill>
            <a:srgbClr val="16233F"/>
          </a:solidFill>
          <a:ln/>
        </p:spPr>
      </p:sp>
      <p:pic>
        <p:nvPicPr>
          <p:cNvPr id="6" name="Image 0" descr="/home/claude/icons/gitbranch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88920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" y="3264408"/>
            <a:ext cx="13350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3419856"/>
            <a:ext cx="11064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9" name="Shape 6"/>
          <p:cNvSpPr/>
          <p:nvPr/>
        </p:nvSpPr>
        <p:spPr>
          <a:xfrm>
            <a:off x="694944" y="3575304"/>
            <a:ext cx="8778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4100170"/>
            <a:ext cx="329184" cy="32918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1" name="Text 8"/>
          <p:cNvSpPr/>
          <p:nvPr/>
        </p:nvSpPr>
        <p:spPr>
          <a:xfrm>
            <a:off x="1197864" y="410017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4493362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pushed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483169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diffed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157984" y="3110789"/>
            <a:ext cx="17373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5" name="Shape 12"/>
          <p:cNvSpPr/>
          <p:nvPr/>
        </p:nvSpPr>
        <p:spPr>
          <a:xfrm>
            <a:off x="2359152" y="2377440"/>
            <a:ext cx="1627632" cy="1613002"/>
          </a:xfrm>
          <a:prstGeom prst="roundRect">
            <a:avLst>
              <a:gd name="adj" fmla="val 4535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68880" y="2505456"/>
            <a:ext cx="1408176" cy="146304"/>
          </a:xfrm>
          <a:prstGeom prst="roundRect">
            <a:avLst>
              <a:gd name="adj" fmla="val 18750"/>
            </a:avLst>
          </a:prstGeom>
          <a:solidFill>
            <a:srgbClr val="16233F"/>
          </a:solidFill>
          <a:ln/>
        </p:spPr>
      </p:sp>
      <p:pic>
        <p:nvPicPr>
          <p:cNvPr id="17" name="Image 1" descr="/home/claude/icons/database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2788920"/>
            <a:ext cx="438912" cy="4389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505456" y="3264408"/>
            <a:ext cx="13350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19" name="Shape 15"/>
          <p:cNvSpPr/>
          <p:nvPr/>
        </p:nvSpPr>
        <p:spPr>
          <a:xfrm>
            <a:off x="2505456" y="3419856"/>
            <a:ext cx="11064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20" name="Shape 16"/>
          <p:cNvSpPr/>
          <p:nvPr/>
        </p:nvSpPr>
        <p:spPr>
          <a:xfrm>
            <a:off x="2505456" y="3575304"/>
            <a:ext cx="8778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21" name="Shape 17"/>
          <p:cNvSpPr/>
          <p:nvPr/>
        </p:nvSpPr>
        <p:spPr>
          <a:xfrm>
            <a:off x="3008376" y="4100170"/>
            <a:ext cx="329184" cy="32918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2" name="Text 18"/>
          <p:cNvSpPr/>
          <p:nvPr/>
        </p:nvSpPr>
        <p:spPr>
          <a:xfrm>
            <a:off x="3008376" y="410017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404872" y="4493362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ingested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404872" y="483169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CVE / exploit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correlated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968496" y="3110789"/>
            <a:ext cx="17373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6" name="Shape 22"/>
          <p:cNvSpPr/>
          <p:nvPr/>
        </p:nvSpPr>
        <p:spPr>
          <a:xfrm>
            <a:off x="4169664" y="2377440"/>
            <a:ext cx="1627632" cy="1613002"/>
          </a:xfrm>
          <a:prstGeom prst="roundRect">
            <a:avLst>
              <a:gd name="adj" fmla="val 4535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279392" y="2505456"/>
            <a:ext cx="1408176" cy="146304"/>
          </a:xfrm>
          <a:prstGeom prst="roundRect">
            <a:avLst>
              <a:gd name="adj" fmla="val 18750"/>
            </a:avLst>
          </a:prstGeom>
          <a:solidFill>
            <a:srgbClr val="16233F"/>
          </a:solidFill>
          <a:ln/>
        </p:spPr>
      </p:sp>
      <p:pic>
        <p:nvPicPr>
          <p:cNvPr id="28" name="Image 2" descr="/home/claude/icons/target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2788920"/>
            <a:ext cx="438912" cy="43891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315968" y="3264408"/>
            <a:ext cx="13350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30" name="Shape 25"/>
          <p:cNvSpPr/>
          <p:nvPr/>
        </p:nvSpPr>
        <p:spPr>
          <a:xfrm>
            <a:off x="4315968" y="3419856"/>
            <a:ext cx="11064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31" name="Shape 26"/>
          <p:cNvSpPr/>
          <p:nvPr/>
        </p:nvSpPr>
        <p:spPr>
          <a:xfrm>
            <a:off x="4315968" y="3575304"/>
            <a:ext cx="8778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32" name="Shape 27"/>
          <p:cNvSpPr/>
          <p:nvPr/>
        </p:nvSpPr>
        <p:spPr>
          <a:xfrm>
            <a:off x="4818888" y="4100170"/>
            <a:ext cx="329184" cy="32918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3" name="Text 28"/>
          <p:cNvSpPr/>
          <p:nvPr/>
        </p:nvSpPr>
        <p:spPr>
          <a:xfrm>
            <a:off x="4818888" y="410017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4215384" y="4493362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updates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215384" y="483169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from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APIs checked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5779008" y="3110789"/>
            <a:ext cx="17373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7" name="Shape 32"/>
          <p:cNvSpPr/>
          <p:nvPr/>
        </p:nvSpPr>
        <p:spPr>
          <a:xfrm>
            <a:off x="5980176" y="2377440"/>
            <a:ext cx="1627632" cy="1613002"/>
          </a:xfrm>
          <a:prstGeom prst="roundRect">
            <a:avLst>
              <a:gd name="adj" fmla="val 4535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089904" y="2505456"/>
            <a:ext cx="1408176" cy="146304"/>
          </a:xfrm>
          <a:prstGeom prst="roundRect">
            <a:avLst>
              <a:gd name="adj" fmla="val 18750"/>
            </a:avLst>
          </a:prstGeom>
          <a:solidFill>
            <a:srgbClr val="16233F"/>
          </a:solidFill>
          <a:ln/>
        </p:spPr>
      </p:sp>
      <p:pic>
        <p:nvPicPr>
          <p:cNvPr id="39" name="Image 3" descr="/home/claude/icons/activity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2788920"/>
            <a:ext cx="438912" cy="438912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6126480" y="3264408"/>
            <a:ext cx="13350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41" name="Shape 35"/>
          <p:cNvSpPr/>
          <p:nvPr/>
        </p:nvSpPr>
        <p:spPr>
          <a:xfrm>
            <a:off x="6126480" y="3419856"/>
            <a:ext cx="11064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42" name="Shape 36"/>
          <p:cNvSpPr/>
          <p:nvPr/>
        </p:nvSpPr>
        <p:spPr>
          <a:xfrm>
            <a:off x="6126480" y="3575304"/>
            <a:ext cx="8778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43" name="Shape 37"/>
          <p:cNvSpPr/>
          <p:nvPr/>
        </p:nvSpPr>
        <p:spPr>
          <a:xfrm>
            <a:off x="6629400" y="4100170"/>
            <a:ext cx="329184" cy="32918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44" name="Text 38"/>
          <p:cNvSpPr/>
          <p:nvPr/>
        </p:nvSpPr>
        <p:spPr>
          <a:xfrm>
            <a:off x="6629400" y="410017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6025896" y="4493362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rescored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6025896" y="483169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ADTG recalculates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score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7589520" y="3110789"/>
            <a:ext cx="17373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48" name="Shape 42"/>
          <p:cNvSpPr/>
          <p:nvPr/>
        </p:nvSpPr>
        <p:spPr>
          <a:xfrm>
            <a:off x="7790688" y="2377440"/>
            <a:ext cx="1627632" cy="1613002"/>
          </a:xfrm>
          <a:prstGeom prst="roundRect">
            <a:avLst>
              <a:gd name="adj" fmla="val 4535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7900416" y="2505456"/>
            <a:ext cx="1408176" cy="146304"/>
          </a:xfrm>
          <a:prstGeom prst="roundRect">
            <a:avLst>
              <a:gd name="adj" fmla="val 18750"/>
            </a:avLst>
          </a:prstGeom>
          <a:solidFill>
            <a:srgbClr val="16233F"/>
          </a:solidFill>
          <a:ln/>
        </p:spPr>
      </p:sp>
      <p:pic>
        <p:nvPicPr>
          <p:cNvPr id="50" name="Image 4" descr="/home/claude/icons/cpu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788920"/>
            <a:ext cx="438912" cy="438912"/>
          </a:xfrm>
          <a:prstGeom prst="rect">
            <a:avLst/>
          </a:prstGeom>
        </p:spPr>
      </p:pic>
      <p:sp>
        <p:nvSpPr>
          <p:cNvPr id="51" name="Shape 44"/>
          <p:cNvSpPr/>
          <p:nvPr/>
        </p:nvSpPr>
        <p:spPr>
          <a:xfrm>
            <a:off x="7936992" y="3264408"/>
            <a:ext cx="13350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52" name="Shape 45"/>
          <p:cNvSpPr/>
          <p:nvPr/>
        </p:nvSpPr>
        <p:spPr>
          <a:xfrm>
            <a:off x="7936992" y="3419856"/>
            <a:ext cx="11064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53" name="Shape 46"/>
          <p:cNvSpPr/>
          <p:nvPr/>
        </p:nvSpPr>
        <p:spPr>
          <a:xfrm>
            <a:off x="7936992" y="3575304"/>
            <a:ext cx="8778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54" name="Shape 47"/>
          <p:cNvSpPr/>
          <p:nvPr/>
        </p:nvSpPr>
        <p:spPr>
          <a:xfrm>
            <a:off x="8439912" y="4100170"/>
            <a:ext cx="329184" cy="32918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55" name="Text 48"/>
          <p:cNvSpPr/>
          <p:nvPr/>
        </p:nvSpPr>
        <p:spPr>
          <a:xfrm>
            <a:off x="8439912" y="410017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7836408" y="4493362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deliberate</a:t>
            </a:r>
            <a:endParaRPr lang="en-US" sz="1100" dirty="0"/>
          </a:p>
        </p:txBody>
      </p:sp>
      <p:sp>
        <p:nvSpPr>
          <p:cNvPr id="57" name="Text 50"/>
          <p:cNvSpPr/>
          <p:nvPr/>
        </p:nvSpPr>
        <p:spPr>
          <a:xfrm>
            <a:off x="7836408" y="483169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reaches a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call</a:t>
            </a:r>
            <a:endParaRPr lang="en-US" sz="850" dirty="0"/>
          </a:p>
        </p:txBody>
      </p:sp>
      <p:sp>
        <p:nvSpPr>
          <p:cNvPr id="58" name="Shape 51"/>
          <p:cNvSpPr/>
          <p:nvPr/>
        </p:nvSpPr>
        <p:spPr>
          <a:xfrm>
            <a:off x="9400032" y="3110789"/>
            <a:ext cx="17373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59" name="Shape 52"/>
          <p:cNvSpPr/>
          <p:nvPr/>
        </p:nvSpPr>
        <p:spPr>
          <a:xfrm>
            <a:off x="9601200" y="2377440"/>
            <a:ext cx="1627632" cy="1613002"/>
          </a:xfrm>
          <a:prstGeom prst="roundRect">
            <a:avLst>
              <a:gd name="adj" fmla="val 4535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9710928" y="2505456"/>
            <a:ext cx="1408176" cy="146304"/>
          </a:xfrm>
          <a:prstGeom prst="roundRect">
            <a:avLst>
              <a:gd name="adj" fmla="val 18750"/>
            </a:avLst>
          </a:prstGeom>
          <a:solidFill>
            <a:srgbClr val="16233F"/>
          </a:solidFill>
          <a:ln/>
        </p:spPr>
      </p:sp>
      <p:pic>
        <p:nvPicPr>
          <p:cNvPr id="61" name="Image 5" descr="/home/claude/icons/check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788920"/>
            <a:ext cx="438912" cy="438912"/>
          </a:xfrm>
          <a:prstGeom prst="rect">
            <a:avLst/>
          </a:prstGeom>
        </p:spPr>
      </p:pic>
      <p:sp>
        <p:nvSpPr>
          <p:cNvPr id="62" name="Shape 54"/>
          <p:cNvSpPr/>
          <p:nvPr/>
        </p:nvSpPr>
        <p:spPr>
          <a:xfrm>
            <a:off x="9747504" y="3264408"/>
            <a:ext cx="13350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63" name="Shape 55"/>
          <p:cNvSpPr/>
          <p:nvPr/>
        </p:nvSpPr>
        <p:spPr>
          <a:xfrm>
            <a:off x="9747504" y="3419856"/>
            <a:ext cx="11064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64" name="Shape 56"/>
          <p:cNvSpPr/>
          <p:nvPr/>
        </p:nvSpPr>
        <p:spPr>
          <a:xfrm>
            <a:off x="9747504" y="3575304"/>
            <a:ext cx="877824" cy="54864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65" name="Shape 57"/>
          <p:cNvSpPr/>
          <p:nvPr/>
        </p:nvSpPr>
        <p:spPr>
          <a:xfrm>
            <a:off x="10250424" y="4100170"/>
            <a:ext cx="329184" cy="32918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66" name="Text 58"/>
          <p:cNvSpPr/>
          <p:nvPr/>
        </p:nvSpPr>
        <p:spPr>
          <a:xfrm>
            <a:off x="10250424" y="410017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67" name="Text 59"/>
          <p:cNvSpPr/>
          <p:nvPr/>
        </p:nvSpPr>
        <p:spPr>
          <a:xfrm>
            <a:off x="9646920" y="4493362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shipped</a:t>
            </a:r>
            <a:endParaRPr lang="en-US" sz="1100" dirty="0"/>
          </a:p>
        </p:txBody>
      </p:sp>
      <p:sp>
        <p:nvSpPr>
          <p:cNvPr id="68" name="Text 60"/>
          <p:cNvSpPr/>
          <p:nvPr/>
        </p:nvSpPr>
        <p:spPr>
          <a:xfrm>
            <a:off x="9646920" y="483169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remediation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 the dashboard</a:t>
            </a:r>
            <a:endParaRPr lang="en-US" sz="850" dirty="0"/>
          </a:p>
        </p:txBody>
      </p:sp>
      <p:sp>
        <p:nvSpPr>
          <p:cNvPr id="69" name="Shape 61"/>
          <p:cNvSpPr/>
          <p:nvPr/>
        </p:nvSpPr>
        <p:spPr>
          <a:xfrm>
            <a:off x="548640" y="5760720"/>
            <a:ext cx="10607040" cy="566928"/>
          </a:xfrm>
          <a:prstGeom prst="roundRect">
            <a:avLst>
              <a:gd name="adj" fmla="val 16129"/>
            </a:avLst>
          </a:prstGeom>
          <a:solidFill>
            <a:srgbClr val="132A4C"/>
          </a:solidFill>
          <a:ln/>
        </p:spPr>
      </p:sp>
      <p:sp>
        <p:nvSpPr>
          <p:cNvPr id="70" name="Text 62"/>
          <p:cNvSpPr/>
          <p:nvPr/>
        </p:nvSpPr>
        <p:spPr>
          <a:xfrm>
            <a:off x="822960" y="576072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time target: minutes, not the 32-day industry median</a:t>
            </a:r>
            <a:endParaRPr lang="en-US" sz="1300" dirty="0"/>
          </a:p>
        </p:txBody>
      </p:sp>
      <p:sp>
        <p:nvSpPr>
          <p:cNvPr id="71" name="Text 6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TRUST PROPAGATION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incident, three tenants, one shared trust layer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219456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132A4C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 — Fintech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34440" y="2880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794760" y="310896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3108960"/>
            <a:ext cx="274320" cy="256032"/>
          </a:xfrm>
          <a:prstGeom prst="rightArrow">
            <a:avLst/>
          </a:prstGeom>
          <a:solidFill>
            <a:srgbClr val="00D9A3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9456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132A4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B — Healthcare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2880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7452360" y="310896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dropping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10144" y="3108960"/>
            <a:ext cx="274320" cy="256032"/>
          </a:xfrm>
          <a:prstGeom prst="rightArrow">
            <a:avLst/>
          </a:prstGeom>
          <a:solidFill>
            <a:srgbClr val="00D9A3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219456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132A4C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C — SaaS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49640" y="2880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11109960" y="310896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dropping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526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ADTG package-trust layer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" y="4892040"/>
            <a:ext cx="10058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00584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 vs. simulated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486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2-3 simulated tenants inside one ThreatMesh instance, sharing the ADTG layer.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privacy-preserving, federated sharing across real organizations.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SCOPED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today, roadmap clearly labeled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EAFBF5"/>
          </a:solidFill>
          <a:ln/>
        </p:spPr>
      </p:sp>
      <p:pic>
        <p:nvPicPr>
          <p:cNvPr id="6" name="Image 0" descr="/home/claude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305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24-48hr Hackathon Build</a:t>
            </a:r>
            <a:endParaRPr lang="en-US" sz="1450" dirty="0"/>
          </a:p>
        </p:txBody>
      </p:sp>
      <p:pic>
        <p:nvPicPr>
          <p:cNvPr id="8" name="Image 1" descr="/home/claude/icons/check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6426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SBOM, diffed on every commit</a:t>
            </a:r>
            <a:endParaRPr lang="en-US" sz="1150" dirty="0"/>
          </a:p>
        </p:txBody>
      </p:sp>
      <p:pic>
        <p:nvPicPr>
          <p:cNvPr id="10" name="Image 2" descr="/home/claude/icons/che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0896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0540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CVE monitoring (NVD / OSV / GHSA)</a:t>
            </a:r>
            <a:endParaRPr lang="en-US" sz="1150" dirty="0"/>
          </a:p>
        </p:txBody>
      </p:sp>
      <p:pic>
        <p:nvPicPr>
          <p:cNvPr id="12" name="Image 3" descr="/home/claude/icons/check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044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465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normalization</a:t>
            </a:r>
            <a:endParaRPr lang="en-US" sz="1150" dirty="0"/>
          </a:p>
        </p:txBody>
      </p:sp>
      <p:pic>
        <p:nvPicPr>
          <p:cNvPr id="14" name="Image 4" descr="/home/claude/icons/check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3192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877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with reachability queries</a:t>
            </a:r>
            <a:endParaRPr lang="en-US" sz="1150" dirty="0"/>
          </a:p>
        </p:txBody>
      </p:sp>
      <p:pic>
        <p:nvPicPr>
          <p:cNvPr id="16" name="Image 5" descr="/home/claude/icons/check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4340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428853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ADTG dynamic trust scoring</a:t>
            </a:r>
            <a:endParaRPr lang="en-US" sz="1150" dirty="0"/>
          </a:p>
        </p:txBody>
      </p:sp>
      <p:pic>
        <p:nvPicPr>
          <p:cNvPr id="18" name="Image 6" descr="/home/claude/icons/check_mi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75488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34440" y="47000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reasoning (4 agents)</a:t>
            </a:r>
            <a:endParaRPr lang="en-US" sz="1150" dirty="0"/>
          </a:p>
        </p:txBody>
      </p:sp>
      <p:pic>
        <p:nvPicPr>
          <p:cNvPr id="20" name="Image 7" descr="/home/claude/icons/check_m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166360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234440" y="51114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cited remediation playbooks</a:t>
            </a:r>
            <a:endParaRPr lang="en-US" sz="1150" dirty="0"/>
          </a:p>
        </p:txBody>
      </p:sp>
      <p:pic>
        <p:nvPicPr>
          <p:cNvPr id="22" name="Image 8" descr="/home/claude/icons/check_mi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577840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234440" y="55229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multi-tenant trust dashboard</a:t>
            </a:r>
            <a:endParaRPr lang="en-US" sz="1150" dirty="0"/>
          </a:p>
        </p:txBody>
      </p:sp>
      <p:sp>
        <p:nvSpPr>
          <p:cNvPr id="24" name="Shape 13"/>
          <p:cNvSpPr/>
          <p:nvPr/>
        </p:nvSpPr>
        <p:spPr>
          <a:xfrm>
            <a:off x="6172200" y="187452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F0F2F7"/>
          </a:solidFill>
          <a:ln/>
        </p:spPr>
      </p:sp>
      <p:pic>
        <p:nvPicPr>
          <p:cNvPr id="25" name="Image 9" descr="/home/claude/icons/trend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2103120"/>
            <a:ext cx="411480" cy="4114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040880" y="21305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— Roadmap</a:t>
            </a:r>
            <a:endParaRPr lang="en-US" sz="1450" dirty="0"/>
          </a:p>
        </p:txBody>
      </p:sp>
      <p:sp>
        <p:nvSpPr>
          <p:cNvPr id="27" name="Shape 15"/>
          <p:cNvSpPr/>
          <p:nvPr/>
        </p:nvSpPr>
        <p:spPr>
          <a:xfrm>
            <a:off x="6537960" y="272491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16"/>
          <p:cNvSpPr/>
          <p:nvPr/>
        </p:nvSpPr>
        <p:spPr>
          <a:xfrm>
            <a:off x="6858000" y="26243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Privacy-preserving, federated intel sharing</a:t>
            </a:r>
            <a:endParaRPr lang="en-US" sz="1200" dirty="0"/>
          </a:p>
        </p:txBody>
      </p:sp>
      <p:sp>
        <p:nvSpPr>
          <p:cNvPr id="29" name="Shape 17"/>
          <p:cNvSpPr/>
          <p:nvPr/>
        </p:nvSpPr>
        <p:spPr>
          <a:xfrm>
            <a:off x="6537960" y="322783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18"/>
          <p:cNvSpPr/>
          <p:nvPr/>
        </p:nvSpPr>
        <p:spPr>
          <a:xfrm>
            <a:off x="6858000" y="31272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digital twin for pre-deployment simulation</a:t>
            </a:r>
            <a:endParaRPr lang="en-US" sz="1200" dirty="0"/>
          </a:p>
        </p:txBody>
      </p:sp>
      <p:sp>
        <p:nvSpPr>
          <p:cNvPr id="31" name="Shape 19"/>
          <p:cNvSpPr/>
          <p:nvPr/>
        </p:nvSpPr>
        <p:spPr>
          <a:xfrm>
            <a:off x="6537960" y="373075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20"/>
          <p:cNvSpPr/>
          <p:nvPr/>
        </p:nvSpPr>
        <p:spPr>
          <a:xfrm>
            <a:off x="6858000" y="36301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attack-path forecasting</a:t>
            </a:r>
            <a:endParaRPr lang="en-US" sz="1200" dirty="0"/>
          </a:p>
        </p:txBody>
      </p:sp>
      <p:sp>
        <p:nvSpPr>
          <p:cNvPr id="33" name="Shape 21"/>
          <p:cNvSpPr/>
          <p:nvPr/>
        </p:nvSpPr>
        <p:spPr>
          <a:xfrm>
            <a:off x="6537960" y="42336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22"/>
          <p:cNvSpPr/>
          <p:nvPr/>
        </p:nvSpPr>
        <p:spPr>
          <a:xfrm>
            <a:off x="6858000" y="41330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autonomous learning from incidents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axes, one question: does the trust score earn its keep?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336292"/>
            <a:ext cx="585216" cy="585216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6" name="Image 0" descr="/home/claude/icons/targ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643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762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precision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8760" y="257860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genuinely risky packages higher vs. known-CVE ground truth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32A4C"/>
          </a:solidFill>
          <a:ln/>
        </p:spPr>
      </p:sp>
      <p:sp>
        <p:nvSpPr>
          <p:cNvPr id="10" name="Shape 7"/>
          <p:cNvSpPr/>
          <p:nvPr/>
        </p:nvSpPr>
        <p:spPr>
          <a:xfrm>
            <a:off x="6464808" y="2336292"/>
            <a:ext cx="585216" cy="585216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1" name="Image 1" descr="/home/claude/icons/c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4643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762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update latency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223760" y="257860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new CVE/SBOM event to updated trust score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32A4C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799332"/>
            <a:ext cx="585216" cy="585216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6" name="Image 2" descr="/home/claude/icons/gitbran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9273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6393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accuracy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08760" y="404164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exploitable paths vs. false positives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4747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32A4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64808" y="3799332"/>
            <a:ext cx="585216" cy="585216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1" name="Image 3" descr="/home/claude/icons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39273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6393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reduction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223760" y="404164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vs. a flat CVE-list baseline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32A4C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5262372"/>
            <a:ext cx="585216" cy="585216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6" name="Image 4" descr="/home/claude/icons/zap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39038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1023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remediation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508760" y="550468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responsiveness in the simulated environment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49377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32A4C"/>
          </a:solidFill>
          <a:ln/>
        </p:spPr>
      </p:sp>
      <p:sp>
        <p:nvSpPr>
          <p:cNvPr id="30" name="Shape 23"/>
          <p:cNvSpPr/>
          <p:nvPr/>
        </p:nvSpPr>
        <p:spPr>
          <a:xfrm>
            <a:off x="6464808" y="5262372"/>
            <a:ext cx="585216" cy="585216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1" name="Image 5" descr="/home/claude/icons/filetex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539038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51023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coverage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223760" y="550468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recommendations with a fully cited evidence chain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86868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91640" y="169164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507492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96012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16636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3977640"/>
            <a:ext cx="91440" cy="91440"/>
          </a:xfrm>
          <a:prstGeom prst="ellipse">
            <a:avLst/>
          </a:prstGeom>
          <a:solidFill>
            <a:srgbClr val="00D9A3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static scanning to a living trust layer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ThreatMesh AI fuses a continuously updated trust graph with explainable, multi-agent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— shortening the detect-to-act gap the 2025/2026 DBIR measures in weeks, not minutes.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0" descr="/home/claude/icons/shield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804" y="3977640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4572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Trust-Aware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566160" y="37947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1" descr="/home/claude/icons/search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397764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4572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309360" y="37947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8" name="Image 2" descr="/home/claude/icons/che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4" y="3977640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4572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Standards-Compliant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52560" y="37947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32A4C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1" name="Image 3" descr="/home/claude/icons/target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0404" y="397764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4572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Scoped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2296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aditi.kadam@vit.edu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2026-07-15T08:36:59Z</dcterms:created>
  <dcterms:modified xsi:type="dcterms:W3CDTF">2026-07-15T08:36:59Z</dcterms:modified>
</cp:coreProperties>
</file>